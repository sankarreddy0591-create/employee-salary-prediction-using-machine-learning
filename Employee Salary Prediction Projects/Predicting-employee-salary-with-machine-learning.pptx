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Urbanist ExtraBold" charset="0"/>
      <p:regular r:id="rId12"/>
    </p:embeddedFont>
    <p:embeddedFont>
      <p:font typeface="Red Hat Mono Medium" charset="0"/>
      <p:regular r:id="rId13"/>
    </p:embeddedFont>
    <p:embeddedFont>
      <p:font typeface="Figtree" charset="0"/>
      <p:regular r:id="rId14"/>
    </p:embeddedFont>
    <p:embeddedFont>
      <p:font typeface="Urbanist SemiBold" charset="0"/>
      <p:regular r:id="rId15"/>
    </p:embeddedFont>
    <p:embeddedFont>
      <p:font typeface="Figtree SemiBold" charset="0"/>
      <p:regular r:id="rId16"/>
    </p:embeddedFont>
    <p:embeddedFont>
      <p:font typeface="Red Hat Mono SemiBold" charset="0"/>
      <p:regular r:id="rId17"/>
    </p:embeddedFon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Wingdings 2" pitchFamily="18" charset="2"/>
      <p:regular r:id="rId22"/>
    </p:embeddedFont>
    <p:embeddedFont>
      <p:font typeface="Franklin Gothic Book" pitchFamily="34" charset="0"/>
      <p:regular r:id="rId23"/>
      <p: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-110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72085" y="3337560"/>
            <a:ext cx="8640064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77400" y="1544812"/>
            <a:ext cx="8640064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83838"/>
            <a:ext cx="88392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85800"/>
            <a:ext cx="88392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86400"/>
            <a:ext cx="5386917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5486400"/>
            <a:ext cx="5389033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516912"/>
            <a:ext cx="5386917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16912"/>
            <a:ext cx="5389033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9960864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5528"/>
            <a:ext cx="42672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214424"/>
            <a:ext cx="36576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94488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75264" y="6422065"/>
            <a:ext cx="1016000" cy="365125"/>
          </a:xfrm>
        </p:spPr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20837" y="1019907"/>
            <a:ext cx="54864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422065"/>
            <a:ext cx="2844800" cy="365125"/>
          </a:xfrm>
        </p:spPr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7BB6B-EE1B-48FB-8575-0D55C373DE88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9753600" y="0"/>
            <a:ext cx="24384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995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22065"/>
            <a:ext cx="28448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E637BB6B-EE1B-48FB-8575-0D55C373DE88}" type="datetimeFigureOut">
              <a:rPr lang="en-US" smtClean="0"/>
              <a:pPr/>
              <a:t>10/7/2026</a:t>
            </a:fld>
            <a:endParaRPr lang="en-US" sz="1000">
              <a:solidFill>
                <a:schemeClr val="tx2">
                  <a:shade val="5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165600" y="6422065"/>
            <a:ext cx="38608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 algn="ctr" eaLnBrk="1" latinLnBrk="0" hangingPunct="1"/>
            <a:endParaRPr kumimoji="0" lang="en-US" sz="1000" dirty="0">
              <a:solidFill>
                <a:schemeClr val="tx2">
                  <a:shade val="5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871200" y="6422065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2AA957AF-53C0-420B-9C2D-77DB1416566C}" type="slidenum">
              <a:rPr kumimoji="0" lang="en-US" smtClean="0"/>
              <a:pPr/>
              <a:t>‹#›</a:t>
            </a:fld>
            <a:endParaRPr kumimoji="0" lang="en-US" sz="1000" dirty="0">
              <a:solidFill>
                <a:schemeClr val="tx2">
                  <a:shade val="50000"/>
                </a:scheme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67581"/>
            <a:ext cx="426709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610274"/>
            <a:ext cx="4013100" cy="3466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5200" kern="100" spc="-104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Predicting employee salary with machine learning</a:t>
            </a:r>
            <a:endParaRPr lang="en-US" sz="5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245894"/>
            <a:ext cx="4013100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549900"/>
            <a:ext cx="4013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FROM COMPENSATION PATTERNS TO AN INTERPRETABLE BASELINE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8" y="0"/>
            <a:ext cx="7315017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45519"/>
            <a:ext cx="670543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BUSINESS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2516187"/>
            <a:ext cx="609584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Salary varies with experience, role, and working conditions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478213"/>
            <a:ext cx="6095848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773488"/>
            <a:ext cx="609584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Organizations need a clearer view of compensation patterns across people, teams, and locations.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This project combines salary analysis with a first predictive model.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The dataset captures compensation and workplace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839145"/>
            <a:ext cx="3855643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800" kern="100" spc="-17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689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09585" y="3951982"/>
            <a:ext cx="385564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employee records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4394260"/>
            <a:ext cx="385564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15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922317" y="2711748"/>
          <a:ext cx="6659793" cy="1898602"/>
        </p:xfrm>
        <a:graphic>
          <a:graphicData uri="http://schemas.openxmlformats.org/drawingml/2006/table">
            <a:tbl>
              <a:tblPr/>
              <a:tblGrid>
                <a:gridCol w="2264314"/>
                <a:gridCol w="4395479"/>
              </a:tblGrid>
              <a:tr h="476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Field group</a:t>
                      </a:r>
                      <a:endParaRPr lang="en-US" sz="15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42871" marR="142871" marT="101598" marB="101598" anchor="ctr">
                    <a:lnL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Key fields</a:t>
                      </a:r>
                      <a:endParaRPr lang="en-US" sz="15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42871" marR="142871" marT="101598" marB="101598" anchor="ctr">
                    <a:lnL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Compensation</a:t>
                      </a:r>
                      <a:endParaRPr lang="en-US" sz="15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42871" marR="142871" marT="101598" marB="101598" anchor="ctr">
                    <a:lnL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Monthly Salary · Annual Salary · Job Rate</a:t>
                      </a:r>
                      <a:endParaRPr lang="en-US" sz="15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42871" marR="142871" marT="101598" marB="101598" anchor="ctr">
                    <a:lnL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Workplace context</a:t>
                      </a:r>
                      <a:endParaRPr lang="en-US" sz="15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42871" marR="142871" marT="101598" marB="101598" anchor="ctr">
                    <a:lnL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Years · Department · Country · Center</a:t>
                      </a:r>
                      <a:endParaRPr lang="en-US" sz="15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42871" marR="142871" marT="101598" marB="101598" anchor="ctr">
                    <a:lnL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Work patterns</a:t>
                      </a:r>
                      <a:endParaRPr lang="en-US" sz="15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42871" marR="142871" marT="101598" marB="101598" anchor="ctr">
                    <a:lnL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leave days · Overtime Hours</a:t>
                      </a:r>
                      <a:endParaRPr lang="en-US" sz="15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42871" marR="142871" marT="101598" marB="101598" anchor="ctr">
                    <a:lnL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F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9585" y="6043672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Quality checks cover missing values, duplicates, data types, unique categories, and descriptive statistics.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67093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678" y="618331"/>
            <a:ext cx="731501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876678" y="889000"/>
            <a:ext cx="670543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EDA reveals how employee groups and work patterns differ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876678" y="1851025"/>
            <a:ext cx="2133547" cy="43973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105272" y="2079625"/>
            <a:ext cx="488938" cy="4889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494" y="2228850"/>
            <a:ext cx="190495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05272" y="2731453"/>
            <a:ext cx="167635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Employee groups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105272" y="3102233"/>
            <a:ext cx="1676358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Compare gender distribution and average salary by gender, department, and center.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162621" y="1851025"/>
            <a:ext cx="2133547" cy="43973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7391215" y="2079625"/>
            <a:ext cx="488938" cy="4889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436" y="2228850"/>
            <a:ext cx="190495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91215" y="2731453"/>
            <a:ext cx="167635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Role and country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391215" y="3102233"/>
            <a:ext cx="1676358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Examine Job Rate distribution and average Job Rate by country.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448564" y="1851025"/>
            <a:ext cx="2133547" cy="439737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9677158" y="2079625"/>
            <a:ext cx="488938" cy="4889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6379" y="2228850"/>
            <a:ext cx="190495" cy="190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77158" y="2731453"/>
            <a:ext cx="167635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Work patterns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677158" y="3102233"/>
            <a:ext cx="1676358" cy="102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Review Overtime Hours and numerical correlations to add context without overclaiming causality.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MODEL INPUTS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The first model uses two interpretable inputs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These inputs keep the initial model easy to explain to HR and business stakeholders.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889125"/>
            <a:ext cx="3454314" cy="4359275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27" dist="622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8179" y="3092748"/>
            <a:ext cx="1234449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ln/>
          <a:effectLst>
            <a:outerShdw blurRad="127" dist="368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2476" y="3154660"/>
            <a:ext cx="16154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FEATURE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179" y="3561060"/>
            <a:ext cx="2997125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100" spc="-12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Years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38179" y="4397673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Experience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8179" y="4839950"/>
            <a:ext cx="322571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Years of experience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1" y="1889125"/>
            <a:ext cx="3454314" cy="4359275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  <a:effectLst>
            <a:outerShdw blurRad="127" dist="622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7285" y="2686348"/>
            <a:ext cx="1234449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ln/>
          <a:effectLst>
            <a:outerShdw blurRad="127" dist="36830" dir="5400000" algn="bl" rotWithShape="0">
              <a:srgbClr val="1E2A4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1582" y="2748260"/>
            <a:ext cx="16154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FEATURE 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7285" y="3154660"/>
            <a:ext cx="2997125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100" spc="-12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Job Rate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597285" y="4804073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Role signal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97285" y="5246350"/>
            <a:ext cx="322571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Job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797" y="1889125"/>
            <a:ext cx="3454314" cy="4359275"/>
          </a:xfrm>
          <a:prstGeom prst="roundRect">
            <a:avLst>
              <a:gd name="adj" fmla="val 6176"/>
            </a:avLst>
          </a:prstGeom>
          <a:solidFill>
            <a:srgbClr val="1E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1" y="3195141"/>
            <a:ext cx="3225719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56391" y="3497560"/>
            <a:ext cx="2997125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Monthly Salary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356391" y="4746288"/>
            <a:ext cx="322571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value the model predicts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BASELINE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Linear regression creates a transparent baseline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50975"/>
            <a:ext cx="3352716" cy="4420295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679575"/>
            <a:ext cx="8122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8179" y="1946275"/>
            <a:ext cx="2895528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414772"/>
            <a:ext cx="289552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Split the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179" y="3784600"/>
            <a:ext cx="28955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Split the data into 80% training and 20% testing.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19489" y="1450975"/>
            <a:ext cx="3352716" cy="4420295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48084" y="1679575"/>
            <a:ext cx="8412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48084" y="1946275"/>
            <a:ext cx="2895528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084" y="3414772"/>
            <a:ext cx="289552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Train the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8084" y="3784600"/>
            <a:ext cx="28955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Train a Linear Regression model on Years and Job Rate.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394" y="1450975"/>
            <a:ext cx="3352716" cy="4420295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7988" y="1679575"/>
            <a:ext cx="8374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57988" y="1946275"/>
            <a:ext cx="2895528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7" name="Text 15"/>
          <p:cNvSpPr/>
          <p:nvPr/>
        </p:nvSpPr>
        <p:spPr>
          <a:xfrm>
            <a:off x="8457988" y="3414772"/>
            <a:ext cx="2895528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Predict unseen records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7988" y="3784600"/>
            <a:ext cx="28955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Predict Monthly Salary for unseen test records.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585" y="6043672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baseline favors a workflow that stakeholders can follow from input to prediction.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Evaluation should answer whether predictions are useful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50975"/>
            <a:ext cx="2514537" cy="47974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1679575"/>
            <a:ext cx="488938" cy="4889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00" y="1828800"/>
            <a:ext cx="190495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290128"/>
            <a:ext cx="205734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Error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8179" y="2659955"/>
            <a:ext cx="20573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Measure error with MAE, MSE, and RMSE.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28914" y="1450975"/>
            <a:ext cx="2514537" cy="47974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509" y="1679575"/>
            <a:ext cx="488938" cy="4889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730" y="1828800"/>
            <a:ext cx="190495" cy="190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509" y="2290128"/>
            <a:ext cx="205734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Explained variation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57509" y="2659955"/>
            <a:ext cx="20573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R² Score to assess how much salary variation the model explains.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48244" y="1450975"/>
            <a:ext cx="2514537" cy="47974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476838" y="1709738"/>
            <a:ext cx="333367" cy="333375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76838" y="2164715"/>
            <a:ext cx="205734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Visual fit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76838" y="2534543"/>
            <a:ext cx="205734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Compare actual and predicted salary values visually.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067573" y="1450975"/>
            <a:ext cx="2514537" cy="4797425"/>
          </a:xfrm>
          <a:prstGeom prst="roundRect">
            <a:avLst>
              <a:gd name="adj" fmla="val 8485"/>
            </a:avLst>
          </a:prstGeom>
          <a:solidFill>
            <a:srgbClr val="FFC83D"/>
          </a:solidFill>
          <a:ln/>
        </p:spPr>
      </p:sp>
      <p:sp>
        <p:nvSpPr>
          <p:cNvPr id="19" name="Shape 15"/>
          <p:cNvSpPr/>
          <p:nvPr/>
        </p:nvSpPr>
        <p:spPr>
          <a:xfrm>
            <a:off x="9296167" y="1679575"/>
            <a:ext cx="488938" cy="4889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389" y="1828800"/>
            <a:ext cx="190495" cy="1905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96167" y="2290128"/>
            <a:ext cx="205734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Evidence first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296167" y="2659955"/>
            <a:ext cx="205734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 not add metric values unless they are available from the final notebook or model output.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8331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BOUNDARIES OF THE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89000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The baseline is useful, but its scope is limited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50975"/>
            <a:ext cx="3454314" cy="479742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/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8179" y="3117850"/>
            <a:ext cx="2997125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38179" y="3727450"/>
            <a:ext cx="2997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Two features may not explain the full variation in Monthly Salary.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68691" y="1450975"/>
            <a:ext cx="3454314" cy="479742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97285" y="2813050"/>
            <a:ext cx="2997125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05+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97285" y="3422650"/>
            <a:ext cx="299712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Department, Country, Center, Overtime Hours, and other categorical variables may add predictive signal.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27797" y="1450975"/>
            <a:ext cx="3454314" cy="4797425"/>
          </a:xfrm>
          <a:prstGeom prst="roundRect">
            <a:avLst>
              <a:gd name="adj" fmla="val 6176"/>
            </a:avLst>
          </a:prstGeom>
          <a:solidFill>
            <a:srgbClr val="FFFFFF"/>
          </a:solidFill>
          <a:ln/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6391" y="3117850"/>
            <a:ext cx="2997125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56391" y="3727450"/>
            <a:ext cx="2997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Categorical fields require appropriate encoding before inclusion.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26108"/>
            <a:ext cx="711182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FROM BASELINE TO DECISION TOOL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196777"/>
            <a:ext cx="650223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Next step: move from a baseline to a stronger decision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158802"/>
            <a:ext cx="355591" cy="3556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002" y="2247702"/>
            <a:ext cx="71634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2971" y="2220079"/>
            <a:ext cx="596885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Add signal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2971" y="2589907"/>
            <a:ext cx="596885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Add relevant features and engineer better representations.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3009007"/>
            <a:ext cx="355591" cy="3556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4002" y="3097907"/>
            <a:ext cx="71634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2971" y="3070285"/>
            <a:ext cx="596885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Compare methods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2971" y="3440112"/>
            <a:ext cx="59688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Compare Linear Regression with Random Forest, Gradient Boosting, and other regression methods.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5" y="4125913"/>
            <a:ext cx="355591" cy="3556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002" y="4214813"/>
            <a:ext cx="71634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2971" y="4187190"/>
            <a:ext cx="596885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Validate choices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2971" y="4557018"/>
            <a:ext cx="596885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cross-validation and hyperparameter tuning.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5" y="4976118"/>
            <a:ext cx="355591" cy="35560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002" y="5065018"/>
            <a:ext cx="71634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2971" y="5037395"/>
            <a:ext cx="596885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Monitor in practice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2971" y="5407223"/>
            <a:ext cx="59688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Deploy an interactive predictor or dashboard, then monitor performance over time.</a:t>
            </a:r>
            <a:endParaRPr lang="en-US" sz="15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3</TotalTime>
  <Words>484</Words>
  <Application>Microsoft Office PowerPoint</Application>
  <PresentationFormat>Custom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Urbanist ExtraBold</vt:lpstr>
      <vt:lpstr>Red Hat Mono Medium</vt:lpstr>
      <vt:lpstr>Figtree</vt:lpstr>
      <vt:lpstr>Urbanist SemiBold</vt:lpstr>
      <vt:lpstr>Figtree SemiBold</vt:lpstr>
      <vt:lpstr>Red Hat Mono SemiBold</vt:lpstr>
      <vt:lpstr>Calibri</vt:lpstr>
      <vt:lpstr>Wingdings 2</vt:lpstr>
      <vt:lpstr>Franklin Gothic Book</vt:lpstr>
      <vt:lpstr>Technic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3</cp:revision>
  <dcterms:created xsi:type="dcterms:W3CDTF">2026-10-07T05:05:34Z</dcterms:created>
  <dcterms:modified xsi:type="dcterms:W3CDTF">2026-10-07T05:10:47Z</dcterms:modified>
</cp:coreProperties>
</file>